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70AB37"/>
          </a:solidFill>
          <a:ln/>
        </p:spPr>
      </p:sp>
      <p:pic>
        <p:nvPicPr>
          <p:cNvPr id="3" name="Image 0" descr="/Users/jcebriangrupimedes.com/Desktop/5. IAMASTERS-OS/clients/conecta-mayores/10-comercial/sector-privado/_assets_marca/imedesLogo-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9147" y="658368"/>
            <a:ext cx="1371215" cy="420624"/>
          </a:xfrm>
          <a:prstGeom prst="rect">
            <a:avLst/>
          </a:prstGeom>
        </p:spPr>
      </p:pic>
      <p:pic>
        <p:nvPicPr>
          <p:cNvPr id="4" name="Image 1" descr="/Users/jcebriangrupimedes.com/Desktop/5. IAMASTERS-OS/clients/conecta-mayores/10-comercial/sector-privado/_assets_marca/gesmedLogo-n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282" y="512064"/>
            <a:ext cx="187815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PROPUESTA DE FUNDACIÓN GESMED E IMEDES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CONECTA MAYORES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640080" y="3246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70AB37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 Ascires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64008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digital y protección frente al fraude para sus pacientes mayores · Comunitat Valenciana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40080" y="5120640"/>
            <a:ext cx="2926080" cy="0"/>
          </a:xfrm>
          <a:prstGeom prst="line">
            <a:avLst/>
          </a:prstGeom>
          <a:noFill/>
          <a:ln w="25400">
            <a:solidFill>
              <a:srgbClr val="70AB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hospital que trae la medicina del mañana también puede traer a su paciente mayor al presente digital.</a:t>
            </a:r>
            <a:pPr indent="0" marL="0">
              <a:buNone/>
            </a:pPr>
            <a:r>
              <a:rPr lang="en-US" sz="15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Inversión desde </a:t>
            </a:r>
            <a:pPr indent="0" marL="0">
              <a:buNone/>
            </a:pPr>
            <a:r>
              <a:rPr lang="en-US" sz="1500" b="1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25.000 €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Cuatro datos que conoce de sobra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031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2480310" cy="109728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23160"/>
            <a:ext cx="23888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72,8 %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114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personas mayores de 60 años tiene baja inclusión digital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Ferrer Guardia,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40430" y="2011680"/>
            <a:ext cx="248031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0430" y="2011680"/>
            <a:ext cx="2480310" cy="109728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11" name="Text 9"/>
          <p:cNvSpPr/>
          <p:nvPr/>
        </p:nvSpPr>
        <p:spPr>
          <a:xfrm>
            <a:off x="3486150" y="2423160"/>
            <a:ext cx="23888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11.000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23310" y="3429000"/>
            <a:ext cx="2114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 mayores al 017 por intentos de ciberestafa en un año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23310" y="4937760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INCIBE, Línea 017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40780" y="2011680"/>
            <a:ext cx="248031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0780" y="2011680"/>
            <a:ext cx="2480310" cy="109728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16" name="Text 14"/>
          <p:cNvSpPr/>
          <p:nvPr/>
        </p:nvSpPr>
        <p:spPr>
          <a:xfrm>
            <a:off x="6286500" y="2423160"/>
            <a:ext cx="23888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12,7 %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23660" y="3429000"/>
            <a:ext cx="2114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personas mayores de 75 años ha comprado online alguna vez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23660" y="4937760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INE, 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41130" y="2011680"/>
            <a:ext cx="248031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41130" y="2011680"/>
            <a:ext cx="2480310" cy="109728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21" name="Text 19"/>
          <p:cNvSpPr/>
          <p:nvPr/>
        </p:nvSpPr>
        <p:spPr>
          <a:xfrm>
            <a:off x="9086850" y="2423160"/>
            <a:ext cx="23888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2,2 M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224010" y="3429000"/>
            <a:ext cx="2114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personas mayores viven solas en España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24010" y="4937760"/>
            <a:ext cx="2114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fraude que suplanta a clínicas y hospitales —el SMS de «su cita», la llamada que pide datos «para confirmar una prueba»— tiene a su paciente mayor como blanco: cada uno estafado es una herida en una confianza que costó cincuenta años construir.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ARRAIGO · POR QUÉ ASCIRES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El grupo biomédico que nunca dejó de mirar al paciente.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4300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el diagnóstico se hacía digital, Ascires sumó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siglo de trato directo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paciente: red propia de clínicas en la Comunitat Valenciana y Cataluña y, desde 2026, un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 125 M€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València con una Unidad de Chequeos que personaliza por edad.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43000" y="4069080"/>
            <a:ext cx="2388870" cy="1371600"/>
          </a:xfrm>
          <a:prstGeom prst="rect">
            <a:avLst/>
          </a:prstGeom>
          <a:solidFill>
            <a:srgbClr val="232323"/>
          </a:solidFill>
          <a:ln w="12700">
            <a:solidFill>
              <a:srgbClr val="4E7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206240"/>
            <a:ext cx="23888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0AB37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4892040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trayectoria biomédica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06190" y="4069080"/>
            <a:ext cx="2388870" cy="1371600"/>
          </a:xfrm>
          <a:prstGeom prst="rect">
            <a:avLst/>
          </a:prstGeom>
          <a:solidFill>
            <a:srgbClr val="232323"/>
          </a:solidFill>
          <a:ln w="12700">
            <a:solidFill>
              <a:srgbClr val="4E7D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6190" y="4206240"/>
            <a:ext cx="23888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0AB37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943350" y="4892040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en su equipo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69380" y="4069080"/>
            <a:ext cx="2388870" cy="1371600"/>
          </a:xfrm>
          <a:prstGeom prst="rect">
            <a:avLst/>
          </a:prstGeom>
          <a:solidFill>
            <a:srgbClr val="232323"/>
          </a:solidFill>
          <a:ln w="12700">
            <a:solidFill>
              <a:srgbClr val="4E7D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9380" y="4206240"/>
            <a:ext cx="23888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0AB37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125 M€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06540" y="4892040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Ascires Valencia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32570" y="4069080"/>
            <a:ext cx="2388870" cy="1371600"/>
          </a:xfrm>
          <a:prstGeom prst="rect">
            <a:avLst/>
          </a:prstGeom>
          <a:solidFill>
            <a:srgbClr val="232323"/>
          </a:solidFill>
          <a:ln w="12700">
            <a:solidFill>
              <a:srgbClr val="4E7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32570" y="4206240"/>
            <a:ext cx="23888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0AB37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15 %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269730" y="4892040"/>
            <a:ext cx="21145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beneficio reinvertido en I+D+i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300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 cerca en la consulta. Conecta Mayores le permite estar cerca también en el móvil.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No invente un programa. Apadrine uno que ya funciona.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programa de la Fundación Gesmed —que ya trabaja en envejecimiento activo y competencias digitales— que Ascires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apadrina y presenta como suyo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 no se inventa una acción de marketing. Apadrina un método con educadores, materiales y experiencia europea (</a:t>
            </a:r>
            <a:pPr indent="0" marL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Erasmus+). Eso separa un compromiso creíble de un eslogan.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06240" cy="35661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0" y="2011680"/>
            <a:ext cx="128016" cy="356616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tiene dos caras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35240" y="29260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mira a sus pacientes mayores.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enseñamos a no quedarse fuera.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otra mira a su reputación.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damos con qué demostrarlo.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RECIBEN SUS PACIENTES MAYORES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Un ciclo de 8 talleres, en sus clínicas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58568"/>
            <a:ext cx="502920" cy="50292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móvil sin miedo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05740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2258568"/>
            <a:ext cx="502920" cy="50292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 la familia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258568"/>
            <a:ext cx="502920" cy="50292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Videollamadas con los nietos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06840" y="2057400"/>
            <a:ext cx="2514600" cy="1417320"/>
          </a:xfrm>
          <a:prstGeom prst="rect">
            <a:avLst/>
          </a:prstGeom>
          <a:solidFill>
            <a:srgbClr val="70AB37"/>
          </a:solidFill>
          <a:ln w="12700">
            <a:solidFill>
              <a:srgbClr val="70AB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89720" y="22585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9720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fraude que suplanta a Ascires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514600" cy="1417320"/>
          </a:xfrm>
          <a:prstGeom prst="rect">
            <a:avLst/>
          </a:prstGeom>
          <a:solidFill>
            <a:srgbClr val="70AB37"/>
          </a:solidFill>
          <a:ln w="12700">
            <a:solidFill>
              <a:srgbClr val="70AB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85876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cita y tus resultados, en el móvil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29000" y="365760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3858768"/>
            <a:ext cx="502920" cy="50292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11880" y="4434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y compras sin riesgo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3858768"/>
            <a:ext cx="502920" cy="50292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00800" y="4434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 sin peligro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006840" y="3657600"/>
            <a:ext cx="2514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89720" y="3858768"/>
            <a:ext cx="502920" cy="50292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34" name="Text 32"/>
          <p:cNvSpPr/>
          <p:nvPr/>
        </p:nvSpPr>
        <p:spPr>
          <a:xfrm>
            <a:off x="918972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189720" y="4434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diploma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talleres 4 y 5 —el fraude que usa la marca Ascires y la cita, los resultados y la app en el móvil— son el corazón del programa. Donde su paciente más lo necesita y donde su marca más se juega.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FASE QUE MULTIPLICA · PACIENTES GUÍA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El programa no termina. Se multiplica.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640080" cy="64008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Aprenden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Completan los 8 talleres. La docente detecta a quienes tienen soltura y ganas de enseñar: 10-12 candidaturas por edición.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331720"/>
            <a:ext cx="640080" cy="64008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91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 certifican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 formadores y diploma de Paciente Guía, firmado por Ascires y la Fundación Gesmed y entregado en acto público en el Hospital Ascires.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331720"/>
            <a:ext cx="640080" cy="640080"/>
          </a:xfrm>
          <a:prstGeom prst="ellipse">
            <a:avLst/>
          </a:prstGeom>
          <a:solidFill>
            <a:srgbClr val="70AB37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5820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Enseñan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58200" y="3611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 en sus salas de espera, aulas de paciente o en la Fundación QUAES, con su kit y con la docente como mentora. A los 12 meses, visita de refuerzo y medición.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Pacientes Guía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certificados por edición · la red sigue enseñando cuando el contrato termina · es la respuesta a “¿y después de seis meses?”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hospital, esto se llama cuidar. Aquí el cuidado sale de la consulta y llega al móvil.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RECIBE ASCIRES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No solo hace el bien: lo puede demostrar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4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109728" cy="169164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Contenidos con su marca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98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completa: redes, cartelería en salas de espera, web, vídeo y guía para su personal de atención al paciente.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2057400"/>
            <a:ext cx="344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8640" y="2057400"/>
            <a:ext cx="109728" cy="169164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10" name="Text 8"/>
          <p:cNvSpPr/>
          <p:nvPr/>
        </p:nvSpPr>
        <p:spPr>
          <a:xfrm>
            <a:off x="4632960" y="224028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Informe de Impacto Sénior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32960" y="2788920"/>
            <a:ext cx="298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por un tercero y mapeado a ODS 3, 10 y 11. Entra directo en su memoria de sostenibilidad.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7200" y="2057400"/>
            <a:ext cx="344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77200" y="2057400"/>
            <a:ext cx="109728" cy="169164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14" name="Text 12"/>
          <p:cNvSpPr/>
          <p:nvPr/>
        </p:nvSpPr>
        <p:spPr>
          <a:xfrm>
            <a:off x="8351520" y="224028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Sello «Empresa Amiga»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51520" y="2788920"/>
            <a:ext cx="298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Avalado por la Fundación Gesmed. Un aval que su marca no puede fabricar sola.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44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31920"/>
            <a:ext cx="109728" cy="169164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Red de Pacientes Guía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298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Mayores que enseñan a otros en sus clínicas. Fidelización y prueba social.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8640" y="3931920"/>
            <a:ext cx="344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58640" y="3931920"/>
            <a:ext cx="109728" cy="169164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22" name="Text 20"/>
          <p:cNvSpPr/>
          <p:nvPr/>
        </p:nvSpPr>
        <p:spPr>
          <a:xfrm>
            <a:off x="4632960" y="41148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Reputación y prensa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32960" y="4663440"/>
            <a:ext cx="298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notas, reportaje y dossier listo para premios de RSC y de humanización de la salud.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77200" y="3931920"/>
            <a:ext cx="344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77200" y="3931920"/>
            <a:ext cx="109728" cy="169164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26" name="Text 24"/>
          <p:cNvSpPr/>
          <p:nvPr/>
        </p:nvSpPr>
        <p:spPr>
          <a:xfrm>
            <a:off x="8351520" y="4114800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Voluntariado (opcional)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51520" y="4663440"/>
            <a:ext cx="298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4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600 profesionales, embajadores digitales. El compromiso se vive por dentro.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0A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ACTIVO DIFERENCIAL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2377440" cy="23774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EMPRESA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AMIGA DE LAS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PERSONAS MAYORES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66160" y="2011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El sello que su marca no puede fabricar sola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566160" y="33832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 hospital diga que cuida a los mayores es coherente con su vocación. Que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fundación especializada lo certifique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—tras diseñarlo, impartirlo y medirlo— lo hace demostrable. Ascires sería el primer grupo hospitalario de España en obtenerlo.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Y QUIÉN HACE QUÉ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En sus clínicas. Y usted casi no hace nada.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Fundación Gesmed + Imedes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Educadores y coordinación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Manuales, pegatinas y diplomas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creativo con su marca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 los Pacientes Guía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 e Informe de Impacto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Sello, prensa y dossier de premios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103120"/>
            <a:ext cx="5120640" cy="3383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Ascires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8803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(hospital, clínicas o Fundación QUAES) y unas fechas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convocatoria a sus pacientes mayores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firma institucional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los contenidos en sus canales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mayor vuelve a entrar en su clínica sin miedo. Y vuelve a sentirla suya.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Datos que van directos a su memoria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48031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231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≥ 75 %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2059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 el programa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40430" y="2194560"/>
            <a:ext cx="248031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0430" y="24231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+30 pts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77590" y="3246120"/>
            <a:ext cx="22059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mejora digital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0780" y="2194560"/>
            <a:ext cx="248031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40780" y="24231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≥ 60 %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77940" y="3246120"/>
            <a:ext cx="22059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detectar un fraude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41130" y="2194560"/>
            <a:ext cx="248031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41130" y="2423160"/>
            <a:ext cx="24803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≥ 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78290" y="3246120"/>
            <a:ext cx="22059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Guía por edición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por un tercero independiente y mapeado a los ODS 3, 10 y 11. La prueba —con números— de que su compromiso no es un cartel.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Tres niveles. Doble retorno.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3383280" cy="128016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desde 25.000 €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3474720"/>
            <a:ext cx="2286000" cy="0"/>
          </a:xfrm>
          <a:prstGeom prst="line">
            <a:avLst/>
          </a:prstGeom>
          <a:noFill/>
          <a:ln w="12700">
            <a:solidFill>
              <a:srgbClr val="E2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118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3 sedes (hospital y clínicas)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talleres + Pacientes Guía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creativo + Informe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 + prensa + reportaje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383280" cy="3749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011680"/>
            <a:ext cx="3383280" cy="128016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44.000 – 46.000 €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3474720"/>
            <a:ext cx="22860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6118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clínicas en la CV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ciclos + vídeo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Voluntariado corporativo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impacto + premios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383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2011680"/>
            <a:ext cx="3383280" cy="128016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ASCIRES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desde 67.000 €/año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0" y="3474720"/>
            <a:ext cx="2286000" cy="0"/>
          </a:xfrm>
          <a:prstGeom prst="line">
            <a:avLst/>
          </a:prstGeom>
          <a:noFill/>
          <a:ln w="12700">
            <a:solidFill>
              <a:srgbClr val="E2E1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61188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de la CV y Cataluña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continuo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impacto anual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 + renovación sello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fase Pacientes Guía va incluida y el precio no sube: el coste baja de 270–450 € a 68–135 € por persona alcanzada a 12 meses.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FUNDACIÓN GESMED E IMEDES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Esto no se improvisa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568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7744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1995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71216" y="2194560"/>
            <a:ext cx="19568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71216" y="237744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62656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02352" y="2194560"/>
            <a:ext cx="19568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02352" y="237744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93792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/ 5 años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33488" y="2194560"/>
            <a:ext cx="19568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33488" y="237744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300+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24928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64624" y="2194560"/>
            <a:ext cx="195681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64624" y="237744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500.000+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56064" y="31546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impactadas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Imedes</a:t>
            </a:r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aporta consultoría, comunicación y educación desde 1995 (Nestlé, Consum, Central Lechera Asturiana; ISO 9001 e ISO 14001). 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Fundación Gesmed</a:t>
            </a:r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gestiona residencias, centros de día y SAD: trabaja cada día con mayores y sus familias.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AVAL EUROPEO · RECORRIDO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Un método europeo. Y una plataforma que se queda.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031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Erasmus+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europeo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40430" y="1965960"/>
            <a:ext cx="248031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40430" y="2103120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5 países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31870" y="2560320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consorcio 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0780" y="1965960"/>
            <a:ext cx="248031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40780" y="2103120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6 idiomas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32220" y="2560320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41130" y="1965960"/>
            <a:ext cx="248031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41130" y="2103120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7D24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Gratis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32570" y="2560320"/>
            <a:ext cx="2297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para siempre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Erasmus+ con la Fundación Gesmed como socia española, junto a Francia, Grecia, Rumanía y Eslovenia. Resultados presentados ante la patronal valenciana (CEV) en 2025.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elderlymobilemoney.eu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6118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 y en seis idiomas. Vídeos, tutoriales y un simulador para practicar trámites y pagos sin riesgo. Sus pacientes mayores la siguen usando después del programa: el aprendizaje no caduca con el diploma.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881360" cy="0"/>
          </a:xfrm>
          <a:prstGeom prst="line">
            <a:avLst/>
          </a:prstGeom>
          <a:noFill/>
          <a:ln w="12700">
            <a:solidFill>
              <a:srgbClr val="E2E1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Recorrido: </a:t>
            </a:r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entidad no apadrina una ocurrencia local, sino un método con sello europeo y una plataforma viva.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7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Mayores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 Ascires · Fundación Gesmed · Imedes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0A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B8B8B0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Ascires trajo a València la medicina del mañana.
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Este es el paso que faltaba: no dejar sola a su gente mayor frente a la pantalla.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pacientes mayores llevan medio siglo confiando en Ascires. Conecta Mayores es la forma de devolvérselo —con el aval de una fundación y con datos.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349240"/>
            <a:ext cx="6949440" cy="685800"/>
          </a:xfrm>
          <a:prstGeom prst="rect">
            <a:avLst/>
          </a:prstGeom>
          <a:solidFill>
            <a:srgbClr val="70AB3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3492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Hablemos. Le preparamos una propuesta a su red en una semana.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0" y="5440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Gesmed · Imedes · imedes.net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Conecta Mayores · con Ascires — Pitch</dc:title>
  <dc:subject>PptxGenJS Presentation</dc:subject>
  <dc:creator>Imedes</dc:creator>
  <cp:lastModifiedBy>Imedes</cp:lastModifiedBy>
  <cp:revision>1</cp:revision>
  <dcterms:created xsi:type="dcterms:W3CDTF">2026-07-30T08:25:31Z</dcterms:created>
  <dcterms:modified xsi:type="dcterms:W3CDTF">2026-07-30T08:25:31Z</dcterms:modified>
</cp:coreProperties>
</file>